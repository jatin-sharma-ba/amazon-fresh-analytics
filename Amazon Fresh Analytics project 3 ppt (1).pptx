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EDsSHvLm+hr+s7DiCp2y2kmSh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Play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482600" y="3602038"/>
            <a:ext cx="10506991" cy="2277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84632" y="1005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" name="Google Shape;19;p19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body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0" type="dt"/>
          </p:nvPr>
        </p:nvSpPr>
        <p:spPr>
          <a:xfrm>
            <a:off x="484632" y="1005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1" type="ftr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idx="10" type="dt"/>
          </p:nvPr>
        </p:nvSpPr>
        <p:spPr>
          <a:xfrm>
            <a:off x="484632" y="1005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1" type="ftr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2"/>
          <p:cNvSpPr txBox="1"/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482600" y="4171445"/>
            <a:ext cx="10515600" cy="1918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84632" y="1005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" name="Google Shape;37;p22"/>
          <p:cNvCxnSpPr/>
          <p:nvPr/>
        </p:nvCxnSpPr>
        <p:spPr>
          <a:xfrm>
            <a:off x="481007" y="3922232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" name="Google Shape;38;p22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" name="Google Shape;39;p22"/>
          <p:cNvCxnSpPr/>
          <p:nvPr/>
        </p:nvCxnSpPr>
        <p:spPr>
          <a:xfrm>
            <a:off x="481007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3"/>
          <p:cNvSpPr txBox="1"/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482600" y="3103131"/>
            <a:ext cx="5418551" cy="30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211120" y="3103131"/>
            <a:ext cx="5418551" cy="30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484632" y="1005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" name="Google Shape;48;p23"/>
          <p:cNvCxnSpPr/>
          <p:nvPr/>
        </p:nvCxnSpPr>
        <p:spPr>
          <a:xfrm>
            <a:off x="482600" y="2918401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" name="Google Shape;49;p23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" type="body"/>
          </p:nvPr>
        </p:nvSpPr>
        <p:spPr>
          <a:xfrm>
            <a:off x="484632" y="2500921"/>
            <a:ext cx="534622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4"/>
          <p:cNvSpPr txBox="1"/>
          <p:nvPr>
            <p:ph idx="2" type="body"/>
          </p:nvPr>
        </p:nvSpPr>
        <p:spPr>
          <a:xfrm>
            <a:off x="484632" y="3428999"/>
            <a:ext cx="5346222" cy="276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3" type="body"/>
          </p:nvPr>
        </p:nvSpPr>
        <p:spPr>
          <a:xfrm>
            <a:off x="6257120" y="2500921"/>
            <a:ext cx="537255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4"/>
          <p:cNvSpPr txBox="1"/>
          <p:nvPr>
            <p:ph idx="4" type="body"/>
          </p:nvPr>
        </p:nvSpPr>
        <p:spPr>
          <a:xfrm>
            <a:off x="6257120" y="3428999"/>
            <a:ext cx="5372551" cy="276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0" type="dt"/>
          </p:nvPr>
        </p:nvSpPr>
        <p:spPr>
          <a:xfrm>
            <a:off x="484632" y="1005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10989591" y="-7190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5"/>
          <p:cNvSpPr txBox="1"/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484632" y="1005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5" name="Google Shape;65;p25"/>
          <p:cNvCxnSpPr/>
          <p:nvPr/>
        </p:nvCxnSpPr>
        <p:spPr>
          <a:xfrm>
            <a:off x="482600" y="3933311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" name="Google Shape;66;p25"/>
          <p:cNvCxnSpPr/>
          <p:nvPr/>
        </p:nvCxnSpPr>
        <p:spPr>
          <a:xfrm>
            <a:off x="481007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/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" type="body"/>
          </p:nvPr>
        </p:nvSpPr>
        <p:spPr>
          <a:xfrm>
            <a:off x="5183187" y="987425"/>
            <a:ext cx="6446484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0" name="Google Shape;70;p26"/>
          <p:cNvSpPr txBox="1"/>
          <p:nvPr>
            <p:ph idx="2" type="body"/>
          </p:nvPr>
        </p:nvSpPr>
        <p:spPr>
          <a:xfrm>
            <a:off x="484632" y="3645074"/>
            <a:ext cx="4287393" cy="222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84632" y="1005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/>
          <p:nvPr>
            <p:ph idx="2" type="pic"/>
          </p:nvPr>
        </p:nvSpPr>
        <p:spPr>
          <a:xfrm>
            <a:off x="5183187" y="987425"/>
            <a:ext cx="644648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7"/>
          <p:cNvSpPr txBox="1"/>
          <p:nvPr>
            <p:ph idx="1" type="body"/>
          </p:nvPr>
        </p:nvSpPr>
        <p:spPr>
          <a:xfrm>
            <a:off x="484632" y="3645074"/>
            <a:ext cx="4287393" cy="222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484632" y="1005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8"/>
          <p:cNvSpPr txBox="1"/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" type="body"/>
          </p:nvPr>
        </p:nvSpPr>
        <p:spPr>
          <a:xfrm rot="5400000">
            <a:off x="4191213" y="-603890"/>
            <a:ext cx="3092949" cy="10506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0" type="dt"/>
          </p:nvPr>
        </p:nvSpPr>
        <p:spPr>
          <a:xfrm>
            <a:off x="484632" y="1005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1" type="ftr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2" type="sldNum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28"/>
          <p:cNvCxnSpPr/>
          <p:nvPr/>
        </p:nvCxnSpPr>
        <p:spPr>
          <a:xfrm>
            <a:off x="482600" y="2918401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" name="Google Shape;89;p28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 txBox="1"/>
          <p:nvPr>
            <p:ph type="title"/>
          </p:nvPr>
        </p:nvSpPr>
        <p:spPr>
          <a:xfrm rot="5400000">
            <a:off x="6953262" y="2066856"/>
            <a:ext cx="5124777" cy="2947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idx="1" type="body"/>
          </p:nvPr>
        </p:nvSpPr>
        <p:spPr>
          <a:xfrm rot="5400000">
            <a:off x="1550470" y="-87430"/>
            <a:ext cx="5124777" cy="7256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9"/>
          <p:cNvSpPr txBox="1"/>
          <p:nvPr>
            <p:ph idx="10" type="dt"/>
          </p:nvPr>
        </p:nvSpPr>
        <p:spPr>
          <a:xfrm>
            <a:off x="484632" y="1005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9"/>
          <p:cNvSpPr txBox="1"/>
          <p:nvPr>
            <p:ph idx="11" type="ftr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9"/>
          <p:cNvSpPr txBox="1"/>
          <p:nvPr>
            <p:ph idx="12" type="sldNum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84632" y="1005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8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" name="Google Shape;12;p18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about:blank" TargetMode="External"/><Relationship Id="rId4" Type="http://schemas.openxmlformats.org/officeDocument/2006/relationships/hyperlink" Target="about:blank" TargetMode="External"/><Relationship Id="rId5" Type="http://schemas.openxmlformats.org/officeDocument/2006/relationships/hyperlink" Target="about:blank" TargetMode="External"/><Relationship Id="rId6" Type="http://schemas.openxmlformats.org/officeDocument/2006/relationships/hyperlink" Target="about:blank" TargetMode="External"/><Relationship Id="rId7" Type="http://schemas.openxmlformats.org/officeDocument/2006/relationships/hyperlink" Target="about:blank" TargetMode="External"/><Relationship Id="rId8" Type="http://schemas.openxmlformats.org/officeDocument/2006/relationships/hyperlink" Target="about:blan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3">
            <a:alphaModFix amt="40000"/>
          </a:blip>
          <a:srcRect b="7655" l="0" r="-1" t="8053"/>
          <a:stretch/>
        </p:blipFill>
        <p:spPr>
          <a:xfrm>
            <a:off x="20" y="10"/>
            <a:ext cx="1218893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>
            <p:ph type="ctrTitle"/>
          </p:nvPr>
        </p:nvSpPr>
        <p:spPr>
          <a:xfrm>
            <a:off x="482600" y="732032"/>
            <a:ext cx="69009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b="1" lang="en-US" sz="8000">
                <a:solidFill>
                  <a:srgbClr val="FFFFFF"/>
                </a:solidFill>
              </a:rPr>
              <a:t>Amazon Fresh Analytics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6596565" y="4201721"/>
            <a:ext cx="4986084" cy="19498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b="1" lang="en-US">
                <a:solidFill>
                  <a:srgbClr val="FFFFFF"/>
                </a:solidFill>
              </a:rPr>
              <a:t>SQL Capstone Project</a:t>
            </a:r>
            <a:endParaRPr/>
          </a:p>
        </p:txBody>
      </p:sp>
      <p:cxnSp>
        <p:nvCxnSpPr>
          <p:cNvPr id="105" name="Google Shape;105;p1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" name="Google Shape;106;p1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1"/>
          <p:cNvSpPr txBox="1"/>
          <p:nvPr/>
        </p:nvSpPr>
        <p:spPr>
          <a:xfrm>
            <a:off x="567050" y="4434117"/>
            <a:ext cx="914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Domain: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E-commerce &amp; Retail Analytics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Used: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(DDL, DML, Joins, Subqueries, Normalization)</a:t>
            </a:r>
            <a:b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Submitted By: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Jatin Sharma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112;p2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2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2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>
            <p:ph type="ctrTitle"/>
          </p:nvPr>
        </p:nvSpPr>
        <p:spPr>
          <a:xfrm>
            <a:off x="482601" y="976152"/>
            <a:ext cx="5613399" cy="502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lang="en-US"/>
              <a:t>Problem Statement</a:t>
            </a:r>
            <a:endParaRPr/>
          </a:p>
        </p:txBody>
      </p:sp>
      <p:cxnSp>
        <p:nvCxnSpPr>
          <p:cNvPr id="117" name="Google Shape;117;p2"/>
          <p:cNvCxnSpPr/>
          <p:nvPr/>
        </p:nvCxnSpPr>
        <p:spPr>
          <a:xfrm>
            <a:off x="482600" y="489854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2"/>
          <p:cNvSpPr txBox="1"/>
          <p:nvPr>
            <p:ph idx="1" type="subTitle"/>
          </p:nvPr>
        </p:nvSpPr>
        <p:spPr>
          <a:xfrm>
            <a:off x="6997624" y="976158"/>
            <a:ext cx="4440589" cy="5024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Ø"/>
            </a:pPr>
            <a:r>
              <a:rPr b="1" lang="en-US" sz="2000"/>
              <a:t>Amazon Fresh is an e-commerce grocery platform managing</a:t>
            </a:r>
            <a:r>
              <a:rPr lang="en-US" sz="2000"/>
              <a:t>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>
                <a:latin typeface="Angsana New"/>
                <a:ea typeface="Angsana New"/>
                <a:cs typeface="Angsana New"/>
                <a:sym typeface="Angsana New"/>
              </a:rPr>
              <a:t>Customer Data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>
                <a:latin typeface="Angsana New"/>
                <a:ea typeface="Angsana New"/>
                <a:cs typeface="Angsana New"/>
                <a:sym typeface="Angsana New"/>
              </a:rPr>
              <a:t>Product Inventory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>
                <a:latin typeface="Angsana New"/>
                <a:ea typeface="Angsana New"/>
                <a:cs typeface="Angsana New"/>
                <a:sym typeface="Angsana New"/>
              </a:rPr>
              <a:t>Supplier Details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>
                <a:latin typeface="Angsana New"/>
                <a:ea typeface="Angsana New"/>
                <a:cs typeface="Angsana New"/>
                <a:sym typeface="Angsana New"/>
              </a:rPr>
              <a:t>Orders &amp; Transactions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>
                <a:latin typeface="Angsana New"/>
                <a:ea typeface="Angsana New"/>
                <a:cs typeface="Angsana New"/>
                <a:sym typeface="Angsana New"/>
              </a:rPr>
              <a:t>Customer Reviews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Ø"/>
            </a:pPr>
            <a:r>
              <a:rPr b="1" lang="en-US" sz="2000"/>
              <a:t>The challenge is to design a structured relational database to: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>
                <a:latin typeface="Angsana New"/>
                <a:ea typeface="Angsana New"/>
                <a:cs typeface="Angsana New"/>
                <a:sym typeface="Angsana New"/>
              </a:rPr>
              <a:t>Optimize operations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>
                <a:latin typeface="Angsana New"/>
                <a:ea typeface="Angsana New"/>
                <a:cs typeface="Angsana New"/>
                <a:sym typeface="Angsana New"/>
              </a:rPr>
              <a:t>Improve customer satisfaction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>
                <a:latin typeface="Angsana New"/>
                <a:ea typeface="Angsana New"/>
                <a:cs typeface="Angsana New"/>
                <a:sym typeface="Angsana New"/>
              </a:rPr>
              <a:t>Increase revenue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>
                <a:latin typeface="Angsana New"/>
                <a:ea typeface="Angsana New"/>
                <a:cs typeface="Angsana New"/>
                <a:sym typeface="Angsana New"/>
              </a:rPr>
              <a:t>Generate business insights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cxnSp>
        <p:nvCxnSpPr>
          <p:cNvPr id="119" name="Google Shape;119;p2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lue arrows pointing at a red button" id="125" name="Google Shape;125;p3"/>
          <p:cNvPicPr preferRelativeResize="0"/>
          <p:nvPr/>
        </p:nvPicPr>
        <p:blipFill rotWithShape="1">
          <a:blip r:embed="rId3">
            <a:alphaModFix/>
          </a:blip>
          <a:srcRect b="4893" l="0" r="-1" t="10815"/>
          <a:stretch/>
        </p:blipFill>
        <p:spPr>
          <a:xfrm>
            <a:off x="20" y="-1"/>
            <a:ext cx="121889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/>
          <p:nvPr/>
        </p:nvSpPr>
        <p:spPr>
          <a:xfrm rot="-5400000">
            <a:off x="389239" y="-389238"/>
            <a:ext cx="6858000" cy="7636476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>
            <p:ph type="ctrTitle"/>
          </p:nvPr>
        </p:nvSpPr>
        <p:spPr>
          <a:xfrm>
            <a:off x="482600" y="732032"/>
            <a:ext cx="5925577" cy="2966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b="1" lang="en-US" sz="8000">
                <a:solidFill>
                  <a:srgbClr val="FFFFFF"/>
                </a:solidFill>
              </a:rPr>
              <a:t>Business Objectives</a:t>
            </a:r>
            <a:endParaRPr/>
          </a:p>
        </p:txBody>
      </p:sp>
      <p:sp>
        <p:nvSpPr>
          <p:cNvPr id="128" name="Google Shape;128;p3"/>
          <p:cNvSpPr txBox="1"/>
          <p:nvPr>
            <p:ph idx="1" type="subTitle"/>
          </p:nvPr>
        </p:nvSpPr>
        <p:spPr>
          <a:xfrm>
            <a:off x="482600" y="4201721"/>
            <a:ext cx="5925577" cy="1949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b="1" lang="en-US">
                <a:solidFill>
                  <a:srgbClr val="FFFFFF"/>
                </a:solidFill>
              </a:rPr>
              <a:t>• Identify top customers</a:t>
            </a:r>
            <a:br>
              <a:rPr b="1" lang="en-US">
                <a:solidFill>
                  <a:srgbClr val="FFFFFF"/>
                </a:solidFill>
              </a:rPr>
            </a:br>
            <a:r>
              <a:rPr b="1" lang="en-US">
                <a:solidFill>
                  <a:srgbClr val="FFFFFF"/>
                </a:solidFill>
              </a:rPr>
              <a:t>• Analyze product demand</a:t>
            </a:r>
            <a:br>
              <a:rPr b="1" lang="en-US">
                <a:solidFill>
                  <a:srgbClr val="FFFFFF"/>
                </a:solidFill>
              </a:rPr>
            </a:br>
            <a:r>
              <a:rPr b="1" lang="en-US">
                <a:solidFill>
                  <a:srgbClr val="FFFFFF"/>
                </a:solidFill>
              </a:rPr>
              <a:t>• Monitor supplier performance</a:t>
            </a:r>
            <a:br>
              <a:rPr b="1" lang="en-US">
                <a:solidFill>
                  <a:srgbClr val="FFFFFF"/>
                </a:solidFill>
              </a:rPr>
            </a:br>
            <a:r>
              <a:rPr b="1" lang="en-US">
                <a:solidFill>
                  <a:srgbClr val="FFFFFF"/>
                </a:solidFill>
              </a:rPr>
              <a:t>• Generate revenue insights</a:t>
            </a:r>
            <a:br>
              <a:rPr b="1" lang="en-US">
                <a:solidFill>
                  <a:srgbClr val="FFFFFF"/>
                </a:solidFill>
              </a:rPr>
            </a:br>
            <a:r>
              <a:rPr b="1" lang="en-US">
                <a:solidFill>
                  <a:srgbClr val="FFFFFF"/>
                </a:solidFill>
              </a:rPr>
              <a:t>• Improve customer satisfaction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29" name="Google Shape;129;p3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" name="Google Shape;130;p3"/>
          <p:cNvCxnSpPr/>
          <p:nvPr/>
        </p:nvCxnSpPr>
        <p:spPr>
          <a:xfrm>
            <a:off x="482600" y="3915458"/>
            <a:ext cx="11147071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" name="Google Shape;131;p3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4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4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4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>
            <p:ph type="ctrTitle"/>
          </p:nvPr>
        </p:nvSpPr>
        <p:spPr>
          <a:xfrm>
            <a:off x="482601" y="976152"/>
            <a:ext cx="5613399" cy="502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lang="en-US"/>
              <a:t>Dataset Overview</a:t>
            </a:r>
            <a:endParaRPr/>
          </a:p>
        </p:txBody>
      </p:sp>
      <p:cxnSp>
        <p:nvCxnSpPr>
          <p:cNvPr id="141" name="Google Shape;141;p4"/>
          <p:cNvCxnSpPr/>
          <p:nvPr/>
        </p:nvCxnSpPr>
        <p:spPr>
          <a:xfrm>
            <a:off x="482600" y="489854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4"/>
          <p:cNvSpPr txBox="1"/>
          <p:nvPr>
            <p:ph idx="1" type="subTitle"/>
          </p:nvPr>
        </p:nvSpPr>
        <p:spPr>
          <a:xfrm>
            <a:off x="6997624" y="976158"/>
            <a:ext cx="4440589" cy="5024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1" lang="en-US" sz="3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Customers</a:t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1" lang="en-US" sz="3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Products</a:t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1" lang="en-US" sz="3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Suppliers</a:t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1" lang="en-US" sz="3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Orders</a:t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1" lang="en-US" sz="3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Order_Details</a:t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1" lang="en-US" sz="3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Reviews</a:t>
            </a:r>
            <a:endParaRPr b="1" sz="32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4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4"/>
          <p:cNvSpPr txBox="1"/>
          <p:nvPr/>
        </p:nvSpPr>
        <p:spPr>
          <a:xfrm>
            <a:off x="569433" y="5931315"/>
            <a:ext cx="112373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dataset was imported into MySQL and structured using relational design.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>
            <p:ph type="ctrTitle"/>
          </p:nvPr>
        </p:nvSpPr>
        <p:spPr>
          <a:xfrm>
            <a:off x="482600" y="501446"/>
            <a:ext cx="10506991" cy="15928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Database Schema </a:t>
            </a:r>
            <a:br>
              <a:rPr lang="en-US"/>
            </a:br>
            <a:r>
              <a:rPr b="1" lang="en-US" sz="3200"/>
              <a:t>(ER Diagram)</a:t>
            </a:r>
            <a:endParaRPr/>
          </a:p>
        </p:txBody>
      </p:sp>
      <p:sp>
        <p:nvSpPr>
          <p:cNvPr id="150" name="Google Shape;150;p5"/>
          <p:cNvSpPr txBox="1"/>
          <p:nvPr>
            <p:ph idx="1" type="subTitle"/>
          </p:nvPr>
        </p:nvSpPr>
        <p:spPr>
          <a:xfrm>
            <a:off x="482601" y="2260879"/>
            <a:ext cx="2712884" cy="36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Entities: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/>
              <a:t>Customers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/>
              <a:t>Orders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/>
              <a:t>OrderDetails</a:t>
            </a:r>
            <a:endParaRPr b="1" sz="1900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/>
              <a:t>Products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/>
              <a:t>Categories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/>
              <a:t>Suppliers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/>
              <a:t>Reviews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22413" r="14568" t="0"/>
          <a:stretch/>
        </p:blipFill>
        <p:spPr>
          <a:xfrm>
            <a:off x="7164475" y="1528970"/>
            <a:ext cx="4436068" cy="458173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3549445" y="2327118"/>
            <a:ext cx="361503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Relationships: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Customers (1:M) Orders</a:t>
            </a:r>
            <a:b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Orders (1:M) OrderDetails</a:t>
            </a:r>
            <a:b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Products (1:M) OrderDetails</a:t>
            </a:r>
            <a:b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Products (1:M) Reviews</a:t>
            </a:r>
            <a:b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Categories (1:M) Products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" name="Google Shape;158;p6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9" name="Google Shape;159;p6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p6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82600" y="489855"/>
            <a:ext cx="11147071" cy="5851265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>
            <p:ph type="ctrTitle"/>
          </p:nvPr>
        </p:nvSpPr>
        <p:spPr>
          <a:xfrm>
            <a:off x="680605" y="976160"/>
            <a:ext cx="5415395" cy="49021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lang="en-US"/>
              <a:t>Database Design &amp; Constraints</a:t>
            </a:r>
            <a:endParaRPr/>
          </a:p>
        </p:txBody>
      </p:sp>
      <p:cxnSp>
        <p:nvCxnSpPr>
          <p:cNvPr id="163" name="Google Shape;163;p6"/>
          <p:cNvCxnSpPr/>
          <p:nvPr/>
        </p:nvCxnSpPr>
        <p:spPr>
          <a:xfrm>
            <a:off x="482600" y="489854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" name="Google Shape;164;p6"/>
          <p:cNvSpPr txBox="1"/>
          <p:nvPr>
            <p:ph idx="1" type="subTitle"/>
          </p:nvPr>
        </p:nvSpPr>
        <p:spPr>
          <a:xfrm>
            <a:off x="6324144" y="976160"/>
            <a:ext cx="5114069" cy="4902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Ø"/>
            </a:pPr>
            <a:r>
              <a:rPr b="1" lang="en-US"/>
              <a:t>Primary Keys defined for all tables.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Ø"/>
            </a:pPr>
            <a:r>
              <a:rPr b="1" lang="en-US"/>
              <a:t>Foreign Keys implemented to maintain referential integrity.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Ø"/>
            </a:pPr>
            <a:r>
              <a:rPr b="1" lang="en-US"/>
              <a:t>Constraints Applied: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Age &gt; 18 (CHECK)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Rating between 1–5 (CHECK)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PrimeMember default = 'No'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Unique constraint on Customer Name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cxnSp>
        <p:nvCxnSpPr>
          <p:cNvPr id="165" name="Google Shape;165;p6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>
            <p:ph type="ctrTitle"/>
          </p:nvPr>
        </p:nvSpPr>
        <p:spPr>
          <a:xfrm>
            <a:off x="482600" y="978408"/>
            <a:ext cx="10506991" cy="19516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lang="en-US"/>
              <a:t>Data Manipulation Operations</a:t>
            </a:r>
            <a:endParaRPr b="1"/>
          </a:p>
        </p:txBody>
      </p:sp>
      <p:sp>
        <p:nvSpPr>
          <p:cNvPr id="171" name="Google Shape;171;p7"/>
          <p:cNvSpPr txBox="1"/>
          <p:nvPr>
            <p:ph idx="1" type="subTitle"/>
          </p:nvPr>
        </p:nvSpPr>
        <p:spPr>
          <a:xfrm>
            <a:off x="482600" y="2930013"/>
            <a:ext cx="10506991" cy="2949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Performed: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Inserted new products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Updated stock quantities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Deleted supplier records (handled FK dependency)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/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/>
              <a:t>Ensured data consistency using SQL best practices.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" name="Google Shape;176;p8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8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8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8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>
            <p:ph type="ctrTitle"/>
          </p:nvPr>
        </p:nvSpPr>
        <p:spPr>
          <a:xfrm>
            <a:off x="482600" y="976160"/>
            <a:ext cx="3964251" cy="2237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lang="en-US"/>
              <a:t>Revenue Analysis</a:t>
            </a:r>
            <a:endParaRPr/>
          </a:p>
        </p:txBody>
      </p:sp>
      <p:sp>
        <p:nvSpPr>
          <p:cNvPr id="181" name="Google Shape;181;p8"/>
          <p:cNvSpPr txBox="1"/>
          <p:nvPr>
            <p:ph idx="1" type="subTitle"/>
          </p:nvPr>
        </p:nvSpPr>
        <p:spPr>
          <a:xfrm>
            <a:off x="562328" y="3408254"/>
            <a:ext cx="4478365" cy="2470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Ø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Calculated:</a:t>
            </a:r>
            <a:endParaRPr/>
          </a:p>
          <a:p>
            <a:pPr indent="-5715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Total Revenue</a:t>
            </a:r>
            <a:endParaRPr/>
          </a:p>
          <a:p>
            <a:pPr indent="-5715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Revenue per Order</a:t>
            </a:r>
            <a:endParaRPr/>
          </a:p>
          <a:p>
            <a:pPr indent="-5715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Revenue by Product</a:t>
            </a:r>
            <a:endParaRPr/>
          </a:p>
          <a:p>
            <a:pPr indent="-5715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Revenue by Category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ü"/>
            </a:pPr>
            <a:r>
              <a:rPr b="1" lang="en-US" sz="1700"/>
              <a:t>Identified high-performing products and categories.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  <p:pic>
        <p:nvPicPr>
          <p:cNvPr descr="Calculator, pen, compass, money and a paper with graphs printed on it" id="182" name="Google Shape;182;p8"/>
          <p:cNvPicPr preferRelativeResize="0"/>
          <p:nvPr/>
        </p:nvPicPr>
        <p:blipFill rotWithShape="1">
          <a:blip r:embed="rId3">
            <a:alphaModFix/>
          </a:blip>
          <a:srcRect b="-1" l="18089" r="14376" t="0"/>
          <a:stretch/>
        </p:blipFill>
        <p:spPr>
          <a:xfrm>
            <a:off x="5040694" y="489856"/>
            <a:ext cx="6588977" cy="58782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8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" name="Google Shape;184;p8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9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0" name="Google Shape;190;p9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1" name="Google Shape;191;p9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79416" y="485369"/>
            <a:ext cx="11147071" cy="2460838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 txBox="1"/>
          <p:nvPr>
            <p:ph type="ctrTitle"/>
          </p:nvPr>
        </p:nvSpPr>
        <p:spPr>
          <a:xfrm>
            <a:off x="482601" y="976160"/>
            <a:ext cx="8411120" cy="1493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00"/>
              <a:buFont typeface="Arial"/>
              <a:buNone/>
            </a:pPr>
            <a:r>
              <a:rPr b="1" lang="en-US" sz="6100"/>
              <a:t>High-Value Customers</a:t>
            </a:r>
            <a:endParaRPr/>
          </a:p>
        </p:txBody>
      </p:sp>
      <p:cxnSp>
        <p:nvCxnSpPr>
          <p:cNvPr id="194" name="Google Shape;194;p9"/>
          <p:cNvCxnSpPr/>
          <p:nvPr/>
        </p:nvCxnSpPr>
        <p:spPr>
          <a:xfrm>
            <a:off x="482600" y="489854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5" name="Google Shape;195;p9"/>
          <p:cNvCxnSpPr/>
          <p:nvPr/>
        </p:nvCxnSpPr>
        <p:spPr>
          <a:xfrm>
            <a:off x="482600" y="2918401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p9"/>
          <p:cNvSpPr txBox="1"/>
          <p:nvPr>
            <p:ph idx="1" type="subTitle"/>
          </p:nvPr>
        </p:nvSpPr>
        <p:spPr>
          <a:xfrm>
            <a:off x="482600" y="3408254"/>
            <a:ext cx="8411119" cy="2470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lang="en-US" sz="2000"/>
              <a:t>Calculated total spending per customer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lang="en-US" sz="2000"/>
              <a:t>Ranked customers using window functions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lang="en-US" sz="2000"/>
              <a:t>Identified customers spending &gt; ₹5,000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sz="2000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Insight:</a:t>
            </a:r>
            <a:r>
              <a:rPr lang="en-US" sz="2000"/>
              <a:t> </a:t>
            </a:r>
            <a:r>
              <a:rPr b="1" lang="en-US" sz="2000"/>
              <a:t>Top 20% customers contribute majority revenue.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cxnSp>
        <p:nvCxnSpPr>
          <p:cNvPr id="197" name="Google Shape;197;p9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nancial graphs on a dark display" id="203" name="Google Shape;203;p10"/>
          <p:cNvPicPr preferRelativeResize="0"/>
          <p:nvPr/>
        </p:nvPicPr>
        <p:blipFill rotWithShape="1">
          <a:blip r:embed="rId3">
            <a:alphaModFix/>
          </a:blip>
          <a:srcRect b="0" l="0" r="-1" t="9976"/>
          <a:stretch/>
        </p:blipFill>
        <p:spPr>
          <a:xfrm>
            <a:off x="20" y="-1"/>
            <a:ext cx="121889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/>
          <p:nvPr/>
        </p:nvSpPr>
        <p:spPr>
          <a:xfrm rot="-5400000">
            <a:off x="389239" y="-389238"/>
            <a:ext cx="6858000" cy="7636476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 txBox="1"/>
          <p:nvPr>
            <p:ph type="ctrTitle"/>
          </p:nvPr>
        </p:nvSpPr>
        <p:spPr>
          <a:xfrm>
            <a:off x="482600" y="732032"/>
            <a:ext cx="5925577" cy="2966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lang="en-US" sz="6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 Performance Analysis</a:t>
            </a:r>
            <a:endParaRPr b="1" sz="6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 txBox="1"/>
          <p:nvPr>
            <p:ph idx="1" type="subTitle"/>
          </p:nvPr>
        </p:nvSpPr>
        <p:spPr>
          <a:xfrm>
            <a:off x="482600" y="4201721"/>
            <a:ext cx="10942376" cy="1949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▪"/>
            </a:pPr>
            <a:r>
              <a:rPr b="1" lang="en-US" sz="2600">
                <a:solidFill>
                  <a:srgbClr val="FFFFFF"/>
                </a:solidFill>
              </a:rPr>
              <a:t>Products with average rating &gt; 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▪"/>
            </a:pPr>
            <a:r>
              <a:rPr b="1" lang="en-US" sz="2600">
                <a:solidFill>
                  <a:srgbClr val="FFFFFF"/>
                </a:solidFill>
              </a:rPr>
              <a:t>Top 3 products by sales revenue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▪"/>
            </a:pPr>
            <a:r>
              <a:rPr b="1" lang="en-US" sz="2600">
                <a:solidFill>
                  <a:srgbClr val="FFFFFF"/>
                </a:solidFill>
              </a:rPr>
              <a:t>Most frequently ordered categories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1300">
              <a:solidFill>
                <a:srgbClr val="FFFFFF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✔"/>
            </a:pPr>
            <a:r>
              <a:rPr b="1" lang="en-US" sz="2800">
                <a:solidFill>
                  <a:srgbClr val="FFFFFF"/>
                </a:solidFill>
              </a:rPr>
              <a:t>Helps in inventory planning and promotions</a:t>
            </a:r>
            <a:endParaRPr b="1" sz="2800">
              <a:solidFill>
                <a:srgbClr val="FFFFFF"/>
              </a:solidFill>
            </a:endParaRPr>
          </a:p>
        </p:txBody>
      </p:sp>
      <p:cxnSp>
        <p:nvCxnSpPr>
          <p:cNvPr id="207" name="Google Shape;207;p10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8" name="Google Shape;208;p10"/>
          <p:cNvCxnSpPr/>
          <p:nvPr/>
        </p:nvCxnSpPr>
        <p:spPr>
          <a:xfrm>
            <a:off x="482600" y="3915458"/>
            <a:ext cx="11147071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9" name="Google Shape;209;p10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83410" y="489853"/>
            <a:ext cx="3990149" cy="5858102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 txBox="1"/>
          <p:nvPr>
            <p:ph type="title"/>
          </p:nvPr>
        </p:nvSpPr>
        <p:spPr>
          <a:xfrm>
            <a:off x="678955" y="976152"/>
            <a:ext cx="3555211" cy="502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/>
              <a:t>Supplier Analysis</a:t>
            </a:r>
            <a:endParaRPr/>
          </a:p>
        </p:txBody>
      </p:sp>
      <p:cxnSp>
        <p:nvCxnSpPr>
          <p:cNvPr id="217" name="Google Shape;217;p11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" name="Google Shape;218;p11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19" name="Google Shape;219;p11"/>
          <p:cNvGrpSpPr/>
          <p:nvPr/>
        </p:nvGrpSpPr>
        <p:grpSpPr>
          <a:xfrm>
            <a:off x="4796496" y="1504934"/>
            <a:ext cx="6833175" cy="3848131"/>
            <a:chOff x="0" y="868407"/>
            <a:chExt cx="6833175" cy="3848131"/>
          </a:xfrm>
        </p:grpSpPr>
        <p:sp>
          <p:nvSpPr>
            <p:cNvPr id="220" name="Google Shape;220;p11"/>
            <p:cNvSpPr/>
            <p:nvPr/>
          </p:nvSpPr>
          <p:spPr>
            <a:xfrm>
              <a:off x="0" y="1252167"/>
              <a:ext cx="6833175" cy="65520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341658" y="868407"/>
              <a:ext cx="4783222" cy="76752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1"/>
            <p:cNvSpPr txBox="1"/>
            <p:nvPr/>
          </p:nvSpPr>
          <p:spPr>
            <a:xfrm>
              <a:off x="379125" y="905874"/>
              <a:ext cx="4708288" cy="692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0775" spcFirstLastPara="1" rIns="1807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lang="en-US" sz="2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Identified supplier with:</a:t>
              </a:r>
              <a:endPara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0" y="2431528"/>
              <a:ext cx="6833175" cy="65520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341658" y="2047768"/>
              <a:ext cx="4783222" cy="76752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1"/>
            <p:cNvSpPr txBox="1"/>
            <p:nvPr/>
          </p:nvSpPr>
          <p:spPr>
            <a:xfrm>
              <a:off x="379125" y="2085235"/>
              <a:ext cx="4708288" cy="692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0775" spcFirstLastPara="1" rIns="1807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lang="en-US" sz="2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Maximum products in stock</a:t>
              </a:r>
              <a:endPara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0" y="3610888"/>
              <a:ext cx="6833175" cy="110565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1"/>
            <p:cNvSpPr txBox="1"/>
            <p:nvPr/>
          </p:nvSpPr>
          <p:spPr>
            <a:xfrm>
              <a:off x="0" y="3610888"/>
              <a:ext cx="6833175" cy="1105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4900" lIns="530325" spcFirstLastPara="1" rIns="530325" wrap="square" tIns="5415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Char char="•"/>
              </a:pPr>
              <a:r>
                <a:rPr b="1" i="0" lang="en-US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Supports supply chain optimization.</a:t>
              </a:r>
              <a:endPara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341658" y="3227128"/>
              <a:ext cx="4783222" cy="76752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1"/>
            <p:cNvSpPr txBox="1"/>
            <p:nvPr/>
          </p:nvSpPr>
          <p:spPr>
            <a:xfrm>
              <a:off x="379125" y="3264595"/>
              <a:ext cx="4708288" cy="692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0775" spcFirstLastPara="1" rIns="1807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lang="en-US" sz="2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High inventory contribution</a:t>
              </a:r>
              <a:endPara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79416" y="485369"/>
            <a:ext cx="11147071" cy="2460838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2"/>
          <p:cNvSpPr txBox="1"/>
          <p:nvPr>
            <p:ph type="title"/>
          </p:nvPr>
        </p:nvSpPr>
        <p:spPr>
          <a:xfrm>
            <a:off x="482601" y="976160"/>
            <a:ext cx="10361960" cy="1493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ial"/>
              <a:buNone/>
            </a:pPr>
            <a:r>
              <a:rPr b="1" lang="en-US" sz="5100">
                <a:latin typeface="Arial"/>
                <a:ea typeface="Arial"/>
                <a:cs typeface="Arial"/>
                <a:sym typeface="Arial"/>
              </a:rPr>
              <a:t>Normalizatio</a:t>
            </a:r>
            <a:r>
              <a:rPr b="1" lang="en-US" sz="5100"/>
              <a:t>n</a:t>
            </a:r>
            <a:r>
              <a:rPr lang="en-US" sz="5100"/>
              <a:t> </a:t>
            </a:r>
            <a:br>
              <a:rPr lang="en-US" sz="5100"/>
            </a:br>
            <a:r>
              <a:rPr b="1" lang="en-US" sz="5100"/>
              <a:t>(3NF Implementation)</a:t>
            </a:r>
            <a:endParaRPr/>
          </a:p>
        </p:txBody>
      </p:sp>
      <p:cxnSp>
        <p:nvCxnSpPr>
          <p:cNvPr id="237" name="Google Shape;237;p12"/>
          <p:cNvCxnSpPr/>
          <p:nvPr/>
        </p:nvCxnSpPr>
        <p:spPr>
          <a:xfrm>
            <a:off x="482600" y="489855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8" name="Google Shape;238;p12"/>
          <p:cNvCxnSpPr/>
          <p:nvPr/>
        </p:nvCxnSpPr>
        <p:spPr>
          <a:xfrm>
            <a:off x="482600" y="2918401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9" name="Google Shape;239;p12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40" name="Google Shape;240;p12"/>
          <p:cNvGrpSpPr/>
          <p:nvPr/>
        </p:nvGrpSpPr>
        <p:grpSpPr>
          <a:xfrm>
            <a:off x="482680" y="3752885"/>
            <a:ext cx="11137358" cy="1554049"/>
            <a:chOff x="3264" y="612831"/>
            <a:chExt cx="11137358" cy="1554049"/>
          </a:xfrm>
        </p:grpSpPr>
        <p:sp>
          <p:nvSpPr>
            <p:cNvPr id="241" name="Google Shape;241;p12"/>
            <p:cNvSpPr/>
            <p:nvPr/>
          </p:nvSpPr>
          <p:spPr>
            <a:xfrm>
              <a:off x="3264" y="612831"/>
              <a:ext cx="2590083" cy="1554049"/>
            </a:xfrm>
            <a:prstGeom prst="rect">
              <a:avLst/>
            </a:prstGeom>
            <a:solidFill>
              <a:srgbClr val="FE5C2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2"/>
            <p:cNvSpPr txBox="1"/>
            <p:nvPr/>
          </p:nvSpPr>
          <p:spPr>
            <a:xfrm>
              <a:off x="3264" y="612831"/>
              <a:ext cx="2590083" cy="1554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Arial"/>
                <a:buNone/>
              </a:pPr>
              <a:r>
                <a:rPr b="1" lang="en-US" sz="1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Original Issue</a:t>
              </a:r>
              <a:r>
                <a:rPr lang="en-US" sz="1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br>
                <a:rPr lang="en-US" sz="1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Category stored repeatedly in Products tab</a:t>
              </a:r>
              <a:r>
                <a:rPr b="1" lang="en-US" sz="1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le.</a:t>
              </a:r>
              <a:endParaRPr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2852356" y="612831"/>
              <a:ext cx="2590083" cy="1554049"/>
            </a:xfrm>
            <a:prstGeom prst="rect">
              <a:avLst/>
            </a:prstGeom>
            <a:solidFill>
              <a:srgbClr val="D9614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2"/>
            <p:cNvSpPr txBox="1"/>
            <p:nvPr/>
          </p:nvSpPr>
          <p:spPr>
            <a:xfrm>
              <a:off x="2852356" y="612831"/>
              <a:ext cx="2590083" cy="1554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Solution:</a:t>
              </a:r>
              <a:br>
                <a:rPr lang="en-US" sz="1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-US" sz="1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Created separate Categories table.</a:t>
              </a:r>
              <a:endParaRPr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2"/>
            <p:cNvSpPr/>
            <p:nvPr/>
          </p:nvSpPr>
          <p:spPr>
            <a:xfrm>
              <a:off x="5701447" y="612831"/>
              <a:ext cx="2590083" cy="1554049"/>
            </a:xfrm>
            <a:prstGeom prst="rect">
              <a:avLst/>
            </a:prstGeom>
            <a:solidFill>
              <a:srgbClr val="B5726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2"/>
            <p:cNvSpPr txBox="1"/>
            <p:nvPr/>
          </p:nvSpPr>
          <p:spPr>
            <a:xfrm>
              <a:off x="5701447" y="612831"/>
              <a:ext cx="2590083" cy="1554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Now:</a:t>
              </a:r>
              <a:br>
                <a:rPr lang="en-US" sz="1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-US" sz="1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Products → CategoryID (Foreign Key)</a:t>
              </a:r>
              <a:endParaRPr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2"/>
            <p:cNvSpPr/>
            <p:nvPr/>
          </p:nvSpPr>
          <p:spPr>
            <a:xfrm>
              <a:off x="8550539" y="612831"/>
              <a:ext cx="2590083" cy="1554049"/>
            </a:xfrm>
            <a:prstGeom prst="rect">
              <a:avLst/>
            </a:prstGeom>
            <a:solidFill>
              <a:srgbClr val="92919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2"/>
            <p:cNvSpPr txBox="1"/>
            <p:nvPr/>
          </p:nvSpPr>
          <p:spPr>
            <a:xfrm>
              <a:off x="8550539" y="612831"/>
              <a:ext cx="2590083" cy="1554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Benefits: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Char char="•"/>
              </a:pPr>
              <a:r>
                <a:rPr b="1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 redundancy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Char char="•"/>
              </a:pPr>
              <a:r>
                <a:rPr b="1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 update anomalies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Char char="•"/>
              </a:pPr>
              <a:r>
                <a:rPr b="1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Industry-standard structure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479416" y="490564"/>
            <a:ext cx="11147071" cy="2453768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 txBox="1"/>
          <p:nvPr>
            <p:ph type="ctrTitle"/>
          </p:nvPr>
        </p:nvSpPr>
        <p:spPr>
          <a:xfrm>
            <a:off x="479417" y="742952"/>
            <a:ext cx="9522831" cy="1943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lang="en-US"/>
              <a:t>ACID Implementation</a:t>
            </a:r>
            <a:endParaRPr/>
          </a:p>
        </p:txBody>
      </p:sp>
      <p:sp>
        <p:nvSpPr>
          <p:cNvPr id="256" name="Google Shape;256;p13"/>
          <p:cNvSpPr txBox="1"/>
          <p:nvPr>
            <p:ph idx="1" type="subTitle"/>
          </p:nvPr>
        </p:nvSpPr>
        <p:spPr>
          <a:xfrm>
            <a:off x="479416" y="3199302"/>
            <a:ext cx="9529202" cy="2818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Atomicity →</a:t>
            </a:r>
            <a:r>
              <a:rPr lang="en-US"/>
              <a:t> </a:t>
            </a:r>
            <a:r>
              <a:rPr b="1" lang="en-US"/>
              <a:t>Transactions complete fully or rollback</a:t>
            </a:r>
            <a:br>
              <a:rPr lang="en-US"/>
            </a:br>
            <a:r>
              <a:rPr b="1" lang="en-US">
                <a:latin typeface="Arial"/>
                <a:ea typeface="Arial"/>
                <a:cs typeface="Arial"/>
                <a:sym typeface="Arial"/>
              </a:rPr>
              <a:t>Consistency → </a:t>
            </a:r>
            <a:r>
              <a:rPr b="1" lang="en-US"/>
              <a:t>Constraints enforce valid data</a:t>
            </a:r>
            <a:br>
              <a:rPr lang="en-US"/>
            </a:br>
            <a:r>
              <a:rPr b="1" lang="en-US">
                <a:latin typeface="Arial"/>
                <a:ea typeface="Arial"/>
                <a:cs typeface="Arial"/>
                <a:sym typeface="Arial"/>
              </a:rPr>
              <a:t>Isolation → </a:t>
            </a:r>
            <a:r>
              <a:rPr b="1" lang="en-US"/>
              <a:t>Independent transactions</a:t>
            </a:r>
            <a:br>
              <a:rPr lang="en-US"/>
            </a:br>
            <a:r>
              <a:rPr b="1" lang="en-US">
                <a:latin typeface="Arial"/>
                <a:ea typeface="Arial"/>
                <a:cs typeface="Arial"/>
                <a:sym typeface="Arial"/>
              </a:rPr>
              <a:t>Durability →</a:t>
            </a:r>
            <a:r>
              <a:rPr lang="en-US"/>
              <a:t> </a:t>
            </a:r>
            <a:r>
              <a:rPr b="1" lang="en-US"/>
              <a:t>Data persists after commit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71500" lvl="0" marL="5715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b="1" lang="en-US" sz="3600">
                <a:latin typeface="Arial"/>
                <a:ea typeface="Arial"/>
                <a:cs typeface="Arial"/>
                <a:sym typeface="Arial"/>
              </a:rPr>
              <a:t>Ensured database reliability.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257" name="Google Shape;257;p13"/>
          <p:cNvCxnSpPr/>
          <p:nvPr/>
        </p:nvCxnSpPr>
        <p:spPr>
          <a:xfrm>
            <a:off x="482600" y="489854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8" name="Google Shape;258;p13"/>
          <p:cNvCxnSpPr/>
          <p:nvPr/>
        </p:nvCxnSpPr>
        <p:spPr>
          <a:xfrm>
            <a:off x="482600" y="2939140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9" name="Google Shape;259;p13"/>
          <p:cNvCxnSpPr/>
          <p:nvPr/>
        </p:nvCxnSpPr>
        <p:spPr>
          <a:xfrm>
            <a:off x="482600" y="6368138"/>
            <a:ext cx="1114707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"/>
          <p:cNvSpPr txBox="1"/>
          <p:nvPr>
            <p:ph type="ctrTitle"/>
          </p:nvPr>
        </p:nvSpPr>
        <p:spPr>
          <a:xfrm>
            <a:off x="482600" y="978408"/>
            <a:ext cx="10506991" cy="11158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Key Business Insights</a:t>
            </a:r>
            <a:endParaRPr/>
          </a:p>
        </p:txBody>
      </p:sp>
      <p:sp>
        <p:nvSpPr>
          <p:cNvPr id="265" name="Google Shape;265;p14"/>
          <p:cNvSpPr txBox="1"/>
          <p:nvPr>
            <p:ph idx="1" type="subTitle"/>
          </p:nvPr>
        </p:nvSpPr>
        <p:spPr>
          <a:xfrm>
            <a:off x="482600" y="2212258"/>
            <a:ext cx="10506991" cy="366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Cities with highest Prime membership concentration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Top 3 most ordered categories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High-value customers drive revenue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Highly rated products show better sales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/>
              <a:t>Actionable for marketing &amp; inventory strategy.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" y="10"/>
            <a:ext cx="12191980" cy="685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evelVTI">
  <a:themeElements>
    <a:clrScheme name="Custom 88">
      <a:dk1>
        <a:srgbClr val="000000"/>
      </a:dk1>
      <a:lt1>
        <a:srgbClr val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2026-02-22T15:02:55Z</dcterms:created>
  <dc:creator>Jatin Sharma</dc:creator>
</cp:coreProperties>
</file>